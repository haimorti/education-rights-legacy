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48672" y="-1280160"/>
            <a:ext cx="3200400" cy="3200400"/>
          </a:xfrm>
          <a:prstGeom prst="ellipse">
            <a:avLst/>
          </a:prstGeom>
          <a:solidFill>
            <a:srgbClr val="1E6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577840"/>
            <a:ext cx="1828800" cy="1828800"/>
          </a:xfrm>
          <a:prstGeom prst="ellipse">
            <a:avLst/>
          </a:prstGeom>
          <a:solidFill>
            <a:srgbClr val="1E6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5200" b="1" i="0">
                <a:solidFill>
                  <a:srgbClr val="FFFFFF"/>
                </a:solidFill>
                <a:latin typeface="Calibri"/>
              </a:rPr>
              <a:t>שכר לימוד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2200" b="0" i="0">
                <a:solidFill>
                  <a:srgbClr val="BFDBFF"/>
                </a:solidFill>
                <a:latin typeface="Calibri"/>
              </a:rPr>
              <a:t>כל מה שצריך לדעת על ההחזר שמגיע לך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931920"/>
            <a:ext cx="393192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400" b="0" i="0">
                <a:solidFill>
                  <a:srgbClr val="94A3B8"/>
                </a:solidFill>
                <a:latin typeface="Calibri"/>
              </a:rPr>
              <a:t>מיועד לסטודנטים המקבלים תמיכה בשיקום מקצועי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0"/>
            <a:ext cx="2286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Calibri"/>
              </a:rPr>
              <a:t>בקצרה – מה שחשוב לדעת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697480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2697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latin typeface="Segoe UI Emoji"/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400" b="1" i="0">
                <a:solidFill>
                  <a:srgbClr val="103A9E"/>
                </a:solidFill>
                <a:latin typeface="Calibri"/>
              </a:rPr>
              <a:t>תקרת ההחזר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64748B"/>
                </a:solidFill>
                <a:latin typeface="Calibri"/>
              </a:rPr>
              <a:t>עד 13,079 ₪
לשנת לימודים (2025)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2344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234440"/>
            <a:ext cx="2697480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371600"/>
            <a:ext cx="2697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latin typeface="Segoe UI Emoji"/>
              </a:rPr>
              <a:t>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659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400" b="1" i="0">
                <a:solidFill>
                  <a:srgbClr val="103A9E"/>
                </a:solidFill>
                <a:latin typeface="Calibri"/>
              </a:rPr>
              <a:t>אופן התשלום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7744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64748B"/>
                </a:solidFill>
                <a:latin typeface="Calibri"/>
              </a:rPr>
              <a:t>זיכוי ישיר לחשבון הבנק
כנגד קבלות בלבד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2344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234440"/>
            <a:ext cx="2697480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371600"/>
            <a:ext cx="2697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latin typeface="Segoe UI Emoji"/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400" b="1" i="0">
                <a:solidFill>
                  <a:srgbClr val="103A9E"/>
                </a:solidFill>
                <a:latin typeface="Calibri"/>
              </a:rPr>
              <a:t>שתי פעימות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7744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64748B"/>
                </a:solidFill>
                <a:latin typeface="Calibri"/>
              </a:rPr>
              <a:t>פעימה א' – סמסטר א'
פעימה ב' – אחרי אישור סמסטר ב'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2344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234440"/>
            <a:ext cx="2697480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371600"/>
            <a:ext cx="2697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latin typeface="Segoe UI Emoji"/>
              </a:rPr>
              <a:t>⚖️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9659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400" b="1" i="0">
                <a:solidFill>
                  <a:srgbClr val="103A9E"/>
                </a:solidFill>
                <a:latin typeface="Calibri"/>
              </a:rPr>
              <a:t>הפרש מעל התקרה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37744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64748B"/>
                </a:solidFill>
                <a:latin typeface="Calibri"/>
              </a:rPr>
              <a:t>אם שכר הלימוד גבוה מהתקרה –
תישאו בהפרש באופן עצמאי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94760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300" b="1" i="0">
                <a:solidFill>
                  <a:srgbClr val="1A56DB"/>
                </a:solidFill>
                <a:latin typeface="Calibri"/>
              </a:rPr>
              <a:t>ההחזר אינו מועבר ישירות למוסד הלימודים – יש לשלם בעצמך ולאחר מכן להגיש קבלה.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0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0"/>
            <a:ext cx="228600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Calibri"/>
              </a:rPr>
              <a:t>תקרת ההחזר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0" i="0">
                <a:solidFill>
                  <a:srgbClr val="BFDBFF"/>
                </a:solidFill>
                <a:latin typeface="Calibri"/>
              </a:rPr>
              <a:t>כמה כסף מגיע לך ואיך מחשבים את זה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943600" cy="448056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276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>
                <a:solidFill>
                  <a:srgbClr val="111827"/>
                </a:solidFill>
                <a:latin typeface="Calibri"/>
              </a:rPr>
              <a:t>תקרה שנתית: 13,079 ₪ (נכון לשנת 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1627632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059669"/>
                </a:solidFill>
                <a:latin typeface="Segoe UI Emoji"/>
              </a:rPr>
              <a:t>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5943600" cy="448056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1305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>
                <a:solidFill>
                  <a:srgbClr val="111827"/>
                </a:solidFill>
                <a:latin typeface="Calibri"/>
              </a:rPr>
              <a:t>ההחזר מועבר ישירות לחשבון הבנק שלך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130552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059669"/>
                </a:solidFill>
                <a:latin typeface="Segoe UI Emoji"/>
              </a:rPr>
              <a:t>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5943600" cy="448056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633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>
                <a:solidFill>
                  <a:srgbClr val="111827"/>
                </a:solidFill>
                <a:latin typeface="Calibri"/>
              </a:rPr>
              <a:t>נדרשת קבלה על תשלום שבוצע בפועל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2633472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059669"/>
                </a:solidFill>
                <a:latin typeface="Segoe UI Emoji"/>
              </a:rPr>
              <a:t>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5943600" cy="448056"/>
          </a:xfrm>
          <a:prstGeom prst="rect">
            <a:avLst/>
          </a:prstGeom>
          <a:solidFill>
            <a:srgbClr val="FFF5F5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1363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>
                <a:solidFill>
                  <a:srgbClr val="111827"/>
                </a:solidFill>
                <a:latin typeface="Calibri"/>
              </a:rPr>
              <a:t>הלימוד לא מגיע ישירות למוסד – אתה משלם קודם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3136392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DC2626"/>
                </a:solidFill>
                <a:latin typeface="Segoe UI Emoji"/>
              </a:rPr>
              <a:t>⚠️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5943600" cy="448056"/>
          </a:xfrm>
          <a:prstGeom prst="rect">
            <a:avLst/>
          </a:prstGeom>
          <a:solidFill>
            <a:srgbClr val="FFF5F5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639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>
                <a:solidFill>
                  <a:srgbClr val="111827"/>
                </a:solidFill>
                <a:latin typeface="Calibri"/>
              </a:rPr>
              <a:t>שכר לימוד מעל התקרה? ההפרש על חשבונך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3639312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DC2626"/>
                </a:solidFill>
                <a:latin typeface="Segoe UI Emoji"/>
              </a:rPr>
              <a:t>⚠️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463040"/>
            <a:ext cx="52120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1463040"/>
            <a:ext cx="521208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508760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400" b="1" i="0">
                <a:solidFill>
                  <a:srgbClr val="FFFFFF"/>
                </a:solidFill>
                <a:latin typeface="Calibri"/>
              </a:rPr>
              <a:t>דוגמה להחזר יחסי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0116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111827"/>
                </a:solidFill>
                <a:latin typeface="Calibri"/>
              </a:rPr>
              <a:t>נניח ששכר הלימוד השנתי שלך הוא 26,158 ₪ –</a:t>
            </a:r>
          </a:p>
          <a:p>
            <a:pPr algn="r" rtl="1">
              <a:spcBef>
                <a:spcPts val="200"/>
              </a:spcBef>
            </a:pPr>
            <a:r>
              <a:rPr sz="1300" b="0" i="0">
                <a:solidFill>
                  <a:srgbClr val="111827"/>
                </a:solidFill>
                <a:latin typeface="Calibri"/>
              </a:rPr>
              <a:t>כפול מהתקרה (13,079 ₪).</a:t>
            </a:r>
          </a:p>
          <a:p>
            <a:pPr algn="r" rtl="1">
              <a:spcBef>
                <a:spcPts val="0"/>
              </a:spcBef>
            </a:pPr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r" rtl="1">
              <a:spcBef>
                <a:spcPts val="200"/>
              </a:spcBef>
            </a:pPr>
            <a:r>
              <a:rPr sz="1300" b="1" i="0">
                <a:solidFill>
                  <a:srgbClr val="103A9E"/>
                </a:solidFill>
                <a:latin typeface="Calibri"/>
              </a:rPr>
              <a:t>במצב כזה תקבל החזר של 50% מכל קבלה,</a:t>
            </a:r>
          </a:p>
          <a:p>
            <a:pPr algn="r" rtl="1">
              <a:spcBef>
                <a:spcPts val="200"/>
              </a:spcBef>
            </a:pPr>
            <a:r>
              <a:rPr sz="1300" b="1" i="0">
                <a:solidFill>
                  <a:srgbClr val="103A9E"/>
                </a:solidFill>
                <a:latin typeface="Calibri"/>
              </a:rPr>
              <a:t>עד לניצול מלא של 13,079 ₪.</a:t>
            </a:r>
          </a:p>
          <a:p>
            <a:pPr algn="r" rtl="1">
              <a:spcBef>
                <a:spcPts val="0"/>
              </a:spcBef>
            </a:pPr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r" rtl="1">
              <a:spcBef>
                <a:spcPts val="200"/>
              </a:spcBef>
            </a:pPr>
            <a:r>
              <a:rPr sz="1200" b="0" i="1">
                <a:solidFill>
                  <a:srgbClr val="64748B"/>
                </a:solidFill>
                <a:latin typeface="Calibri"/>
              </a:rPr>
              <a:t>כלומר – ההחזר מחושב יחסית לפי התקרה.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389120"/>
            <a:ext cx="5212080" cy="1325880"/>
          </a:xfrm>
          <a:prstGeom prst="rect">
            <a:avLst/>
          </a:prstGeom>
          <a:solidFill>
            <a:srgbClr val="EBF0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49884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103A9E"/>
                </a:solidFill>
                <a:latin typeface="Calibri"/>
              </a:rPr>
              <a:t>📐 נוסחת החזר יחסי</a:t>
            </a:r>
          </a:p>
          <a:p>
            <a:pPr algn="r" rtl="1">
              <a:spcBef>
                <a:spcPts val="400"/>
              </a:spcBef>
            </a:pPr>
            <a:r>
              <a:rPr sz="1200" b="0" i="0">
                <a:solidFill>
                  <a:srgbClr val="103A9E"/>
                </a:solidFill>
                <a:latin typeface="Calibri"/>
              </a:rPr>
              <a:t>אחוז ההחזר = (תקרה ÷ שכר לימוד בפועל) × 100</a:t>
            </a:r>
          </a:p>
          <a:p>
            <a:pPr algn="r" rtl="1">
              <a:spcBef>
                <a:spcPts val="200"/>
              </a:spcBef>
            </a:pPr>
            <a:r>
              <a:rPr sz="1200" b="0" i="0">
                <a:solidFill>
                  <a:srgbClr val="103A9E"/>
                </a:solidFill>
                <a:latin typeface="Calibri"/>
              </a:rPr>
              <a:t>הסכום שתקבל = אחוז ההחזר × סכום כל קבלה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0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0"/>
            <a:ext cx="228600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Calibri"/>
              </a:rPr>
              <a:t>מתי מקבלים את ההחזר?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0" i="0">
                <a:solidFill>
                  <a:srgbClr val="BFDBFF"/>
                </a:solidFill>
                <a:latin typeface="Calibri"/>
              </a:rPr>
              <a:t>אישור הזכאות לכל סמסטר נבדק בנפרד – ולכן ההחזר משולם בשתי פעימות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120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12064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63624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4434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Calibri"/>
              </a:rPr>
              <a:t>פעימה ראשונה – סמסטר א'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11827"/>
                </a:solidFill>
                <a:latin typeface="Calibri"/>
              </a:rPr>
              <a:t>מחצית מסכום הזכאות השנתית תשולם לחשבונך בתחילת סמסטר א'.
התשלום מותנה באישור הזכאות לסמסטר זה.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120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120640" cy="5029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63624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572768"/>
            <a:ext cx="4434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Calibri"/>
              </a:rPr>
              <a:t>פעימה שנייה – סמסטר ב'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11827"/>
                </a:solidFill>
                <a:latin typeface="Calibri"/>
              </a:rPr>
              <a:t>המחצית השנייה תשולם לאחר אישור סמסטר ב'.
האישור ניתן רק לאחר בחינת התקדמותך בלימודים.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11091672" cy="1280160"/>
          </a:xfrm>
          <a:prstGeom prst="rect">
            <a:avLst/>
          </a:prstGeom>
          <a:solidFill>
            <a:srgbClr val="EBF0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70248"/>
            <a:ext cx="1054303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103A9E"/>
                </a:solidFill>
                <a:latin typeface="Calibri"/>
              </a:rPr>
              <a:t>💡 מקדמה לפני תחילת הלימודים</a:t>
            </a:r>
          </a:p>
          <a:p>
            <a:pPr algn="r" rtl="1">
              <a:spcBef>
                <a:spcPts val="400"/>
              </a:spcBef>
            </a:pPr>
            <a:r>
              <a:rPr sz="1300" b="0" i="0">
                <a:solidFill>
                  <a:srgbClr val="111827"/>
                </a:solidFill>
                <a:latin typeface="Calibri"/>
              </a:rPr>
              <a:t>במקרים מסוימים, כאשר שולמה מקדמה, ניתן לקבל אותה לפני מועד תחילת הלימודים הרשמי.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0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0"/>
            <a:ext cx="228600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Calibri"/>
              </a:rPr>
              <a:t>מלגות, הנחות ופטורים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0" i="0">
                <a:solidFill>
                  <a:srgbClr val="BFDBFF"/>
                </a:solidFill>
                <a:latin typeface="Calibri"/>
              </a:rPr>
              <a:t>לא כל מלגה משפיעה על ההחזר – הנה מה שחשוב לדעת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934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  <a:latin typeface="Calibri"/>
              </a:rPr>
              <a:t>❌  מלגות שמנוכות מההחזר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111827"/>
                </a:solidFill>
                <a:latin typeface="Calibri"/>
              </a:rPr>
              <a:t>מלגות ייעודיות שניתנו במיוחד עבור שכר לימוד –</a:t>
            </a:r>
          </a:p>
          <a:p>
            <a:pPr algn="r" rtl="1">
              <a:spcBef>
                <a:spcPts val="200"/>
              </a:spcBef>
            </a:pPr>
            <a:r>
              <a:rPr sz="1300" b="0" i="0">
                <a:solidFill>
                  <a:srgbClr val="111827"/>
                </a:solidFill>
                <a:latin typeface="Calibri"/>
              </a:rPr>
              <a:t>ינוכו מסכום ההחזר שתקבל.</a:t>
            </a:r>
          </a:p>
          <a:p>
            <a:pPr algn="r" rtl="1">
              <a:spcBef>
                <a:spcPts val="0"/>
              </a:spcBef>
            </a:pPr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r" rtl="1">
              <a:spcBef>
                <a:spcPts val="400"/>
              </a:spcBef>
            </a:pPr>
            <a:r>
              <a:rPr sz="1300" b="1" i="0">
                <a:solidFill>
                  <a:srgbClr val="DC2626"/>
                </a:solidFill>
                <a:latin typeface="Calibri"/>
              </a:rPr>
              <a:t>דוגמאות:</a:t>
            </a:r>
          </a:p>
          <a:p>
            <a:pPr algn="r" rtl="1">
              <a:spcBef>
                <a:spcPts val="200"/>
              </a:spcBef>
            </a:pPr>
            <a:r>
              <a:rPr sz="1300" b="0" i="0">
                <a:solidFill>
                  <a:srgbClr val="111827"/>
                </a:solidFill>
                <a:latin typeface="Calibri"/>
              </a:rPr>
              <a:t>• מלגת "ממדים ללימודים"</a:t>
            </a:r>
          </a:p>
          <a:p>
            <a:pPr algn="r" rtl="1">
              <a:spcBef>
                <a:spcPts val="200"/>
              </a:spcBef>
            </a:pPr>
            <a:r>
              <a:rPr sz="1300" b="0" i="0">
                <a:solidFill>
                  <a:srgbClr val="111827"/>
                </a:solidFill>
                <a:latin typeface="Calibri"/>
              </a:rPr>
              <a:t>• מלגת משרד הביטחון ללימודים בפריפריה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53035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30352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934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  <a:latin typeface="Calibri"/>
              </a:rPr>
              <a:t>✅  מלגות שאינן מנוכות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111827"/>
                </a:solidFill>
                <a:latin typeface="Calibri"/>
              </a:rPr>
              <a:t>מלגות שאינן מועברות ישירות לחשבון שכר הלימוד</a:t>
            </a:r>
          </a:p>
          <a:p>
            <a:pPr algn="r" rtl="1">
              <a:spcBef>
                <a:spcPts val="200"/>
              </a:spcBef>
            </a:pPr>
            <a:r>
              <a:rPr sz="1300" b="0" i="0">
                <a:solidFill>
                  <a:srgbClr val="111827"/>
                </a:solidFill>
                <a:latin typeface="Calibri"/>
              </a:rPr>
              <a:t>ויכולות לשמש למטרות אחרות –</a:t>
            </a:r>
          </a:p>
          <a:p>
            <a:pPr algn="r" rtl="1">
              <a:spcBef>
                <a:spcPts val="400"/>
              </a:spcBef>
            </a:pPr>
            <a:r>
              <a:rPr sz="1300" b="1" i="0">
                <a:solidFill>
                  <a:srgbClr val="059669"/>
                </a:solidFill>
                <a:latin typeface="Calibri"/>
              </a:rPr>
              <a:t>אינן נלקחות בחשבון בחישוב ההחזר.</a:t>
            </a:r>
          </a:p>
          <a:p>
            <a:pPr algn="r" rtl="1">
              <a:spcBef>
                <a:spcPts val="0"/>
              </a:spcBef>
            </a:pPr>
            <a:r>
              <a:rPr sz="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r" rtl="1">
              <a:spcBef>
                <a:spcPts val="200"/>
              </a:spcBef>
            </a:pPr>
            <a:r>
              <a:rPr sz="1300" b="0" i="1">
                <a:solidFill>
                  <a:srgbClr val="64748B"/>
                </a:solidFill>
                <a:latin typeface="Calibri"/>
              </a:rPr>
              <a:t>כלומר: מלגות כאלה לא יפגעו בסכום שתקבל.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11274552" cy="1005840"/>
          </a:xfrm>
          <a:prstGeom prst="rect">
            <a:avLst/>
          </a:prstGeom>
          <a:solidFill>
            <a:srgbClr val="FFF8E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64608"/>
            <a:ext cx="10725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92400E"/>
                </a:solidFill>
                <a:latin typeface="Calibri"/>
              </a:rPr>
              <a:t>💡 טיפ: אם קיבלת מלגה – בדוק עם עו"ס השיקום שלך האם היא משפיעה על גובה ההחזר.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0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0"/>
            <a:ext cx="228600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Calibri"/>
              </a:rPr>
              <a:t>כיצד מגישים קבלה?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0" i="0">
                <a:solidFill>
                  <a:srgbClr val="BFDBFF"/>
                </a:solidFill>
                <a:latin typeface="Calibri"/>
              </a:rPr>
              <a:t>לאחר התשלום למוסד הלימודים – שלחו את הקבלה לעו"ס השיקום דרך אתר הביטוח הלאומי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4747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02920" cy="1051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18488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111827"/>
                </a:solidFill>
                <a:latin typeface="Calibri"/>
              </a:rPr>
              <a:t>שלמו את שכר הלימוד</a:t>
            </a:r>
          </a:p>
          <a:p>
            <a:pPr algn="r" rtl="1">
              <a:spcBef>
                <a:spcPts val="200"/>
              </a:spcBef>
            </a:pPr>
            <a:r>
              <a:rPr sz="1200" b="0" i="0">
                <a:solidFill>
                  <a:srgbClr val="64748B"/>
                </a:solidFill>
                <a:latin typeface="Calibri"/>
              </a:rPr>
              <a:t>למוסד האקדמי ישירות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9352" y="182880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400" b="0" i="0">
                <a:solidFill>
                  <a:srgbClr val="1A56DB"/>
                </a:solidFill>
                <a:latin typeface="Calibri"/>
              </a:rPr>
              <a:t>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508760"/>
            <a:ext cx="34747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508760"/>
            <a:ext cx="502920" cy="1051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764792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618488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111827"/>
                </a:solidFill>
                <a:latin typeface="Calibri"/>
              </a:rPr>
              <a:t>קבלו קבלה / חשבונית</a:t>
            </a:r>
          </a:p>
          <a:p>
            <a:pPr algn="r" rtl="1">
              <a:spcBef>
                <a:spcPts val="200"/>
              </a:spcBef>
            </a:pPr>
            <a:r>
              <a:rPr sz="1200" b="0" i="0">
                <a:solidFill>
                  <a:srgbClr val="64748B"/>
                </a:solidFill>
                <a:latin typeface="Calibri"/>
              </a:rPr>
              <a:t>מהמוסד האקדמי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828800"/>
            <a:ext cx="228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400" b="0" i="0">
                <a:solidFill>
                  <a:srgbClr val="1A56DB"/>
                </a:solidFill>
                <a:latin typeface="Calibri"/>
              </a:rPr>
              <a:t>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508760"/>
            <a:ext cx="34747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508760"/>
            <a:ext cx="502920" cy="1051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764792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18488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111827"/>
                </a:solidFill>
                <a:latin typeface="Calibri"/>
              </a:rPr>
              <a:t>שלחו לעו"ס השיקום</a:t>
            </a:r>
          </a:p>
          <a:p>
            <a:pPr algn="r" rtl="1">
              <a:spcBef>
                <a:spcPts val="200"/>
              </a:spcBef>
            </a:pPr>
            <a:r>
              <a:rPr sz="1200" b="0" i="0">
                <a:solidFill>
                  <a:srgbClr val="64748B"/>
                </a:solidFill>
                <a:latin typeface="Calibri"/>
              </a:rPr>
              <a:t>דרך אתר הביטוח הלאומי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11274552" cy="4389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44368"/>
            <a:ext cx="10908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  <a:latin typeface="Calibri"/>
              </a:rPr>
              <a:t>🧾  מה חייב להופיע על הקבלה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19272"/>
            <a:ext cx="37581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83280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111827"/>
                </a:solidFill>
                <a:latin typeface="Calibri"/>
              </a:rPr>
              <a:t>שם מלא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4" y="3383280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059669"/>
                </a:solidFill>
                <a:latin typeface="Segoe UI Emoj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15384" y="3319272"/>
            <a:ext cx="3758184" cy="384048"/>
          </a:xfrm>
          <a:prstGeom prst="rect">
            <a:avLst/>
          </a:prstGeom>
          <a:solidFill>
            <a:srgbClr val="F8FA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383280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111827"/>
                </a:solidFill>
                <a:latin typeface="Calibri"/>
              </a:rPr>
              <a:t>מספר תעודת זהות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3383280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059669"/>
                </a:solidFill>
                <a:latin typeface="Segoe UI Emoj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3568" y="3319272"/>
            <a:ext cx="37581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3383280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111827"/>
                </a:solidFill>
                <a:latin typeface="Calibri"/>
              </a:rPr>
              <a:t>שם המוסד האקדמי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20272" y="3383280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059669"/>
                </a:solidFill>
                <a:latin typeface="Segoe UI Emoj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703320"/>
            <a:ext cx="3758184" cy="384048"/>
          </a:xfrm>
          <a:prstGeom prst="rect">
            <a:avLst/>
          </a:prstGeom>
          <a:solidFill>
            <a:srgbClr val="F8FA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767328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111827"/>
                </a:solidFill>
                <a:latin typeface="Calibri"/>
              </a:rPr>
              <a:t>תאריך הנפקת הקבלה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3904" y="3767328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059669"/>
                </a:solidFill>
                <a:latin typeface="Segoe UI Emoj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5384" y="3703320"/>
            <a:ext cx="37581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6824" y="3767328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111827"/>
                </a:solidFill>
                <a:latin typeface="Calibri"/>
              </a:rPr>
              <a:t>מספר קבלה / חשבונית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2088" y="3767328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059669"/>
                </a:solidFill>
                <a:latin typeface="Segoe UI Emoj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73568" y="3703320"/>
            <a:ext cx="3758184" cy="384048"/>
          </a:xfrm>
          <a:prstGeom prst="rect">
            <a:avLst/>
          </a:prstGeom>
          <a:solidFill>
            <a:srgbClr val="F8FA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5008" y="3767328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111827"/>
                </a:solidFill>
                <a:latin typeface="Calibri"/>
              </a:rPr>
              <a:t>מהות התשלום – שכר לימוד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2" y="3767328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059669"/>
                </a:solidFill>
                <a:latin typeface="Segoe UI Emoj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087368"/>
            <a:ext cx="11274552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69664"/>
            <a:ext cx="10908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i="0">
                <a:solidFill>
                  <a:srgbClr val="DC2626"/>
                </a:solidFill>
                <a:latin typeface="Calibri"/>
              </a:rPr>
              <a:t>⚠️  קבלה החסרה אחד או יותר מהפרטים הנדרשים תידחה – אנא וודאו שהכל מלא לפני ההגשה.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0"/>
            <a:ext cx="2286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Calibri"/>
              </a:rPr>
              <a:t>תוך כמה זמן מגיע הכסף?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7076" y="1234440"/>
            <a:ext cx="41148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37076" y="1234440"/>
            <a:ext cx="4114800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7076" y="141732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3600" b="0" i="0">
                <a:solidFill>
                  <a:srgbClr val="111827"/>
                </a:solidFill>
                <a:latin typeface="Calibri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7076" y="210312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2800" b="1" i="0">
                <a:solidFill>
                  <a:srgbClr val="103A9E"/>
                </a:solidFill>
                <a:latin typeface="Calibri"/>
              </a:rPr>
              <a:t>~10 ימי עבודה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7076" y="28346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300" b="0" i="0">
                <a:solidFill>
                  <a:srgbClr val="64748B"/>
                </a:solidFill>
                <a:latin typeface="Calibri"/>
              </a:rPr>
              <a:t>מרגע הגשת הקבלה ועד קבלת הזיכוי לחשבון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2476" y="3703320"/>
            <a:ext cx="91440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9636" y="3794760"/>
            <a:ext cx="845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>
                <a:solidFill>
                  <a:srgbClr val="111827"/>
                </a:solidFill>
                <a:latin typeface="Calibri"/>
              </a:rPr>
              <a:t>ברוב המקרים ההחזר מתקבל תוך כ-10 ימי עבודה.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276" y="3794760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059669"/>
                </a:solidFill>
                <a:latin typeface="Segoe UI Emoji"/>
              </a:rPr>
              <a:t>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2476" y="4261104"/>
            <a:ext cx="914400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9636" y="4352544"/>
            <a:ext cx="845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>
                <a:solidFill>
                  <a:srgbClr val="111827"/>
                </a:solidFill>
                <a:latin typeface="Calibri"/>
              </a:rPr>
              <a:t>ייתכנו עיכובים בזמני עומס חריג.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9276" y="4352544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DC2626"/>
                </a:solidFill>
                <a:latin typeface="Segoe UI Emoji"/>
              </a:rPr>
              <a:t>⚠️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22476" y="4818888"/>
            <a:ext cx="914400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59636" y="4910328"/>
            <a:ext cx="845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>
                <a:solidFill>
                  <a:srgbClr val="111827"/>
                </a:solidFill>
                <a:latin typeface="Calibri"/>
              </a:rPr>
              <a:t>ייתכנו עיכובים בתקופת חגים וחופשות.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9276" y="4910328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DC2626"/>
                </a:solidFill>
                <a:latin typeface="Segoe UI Emoji"/>
              </a:rPr>
              <a:t>⚠️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2476" y="5376672"/>
            <a:ext cx="914400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59636" y="5468112"/>
            <a:ext cx="845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>
                <a:solidFill>
                  <a:srgbClr val="111827"/>
                </a:solidFill>
                <a:latin typeface="Calibri"/>
              </a:rPr>
              <a:t>מומלץ לשמור עותק של הקבלה לאחר ההגשה.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9276" y="5468112"/>
            <a:ext cx="320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5A623"/>
                </a:solidFill>
                <a:latin typeface="Segoe UI Emoji"/>
              </a:rPr>
              <a:t>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0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0"/>
            <a:ext cx="228600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Calibri"/>
              </a:rPr>
              <a:t>תנאים להמשך קבלת התמיכה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0" i="0">
                <a:solidFill>
                  <a:srgbClr val="BFDBFF"/>
                </a:solidFill>
                <a:latin typeface="Calibri"/>
              </a:rPr>
              <a:t>המשך הזכאות מותנה בהתקדמות בלימודים ובהגשת מסמכים בזמן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74552" cy="960120"/>
          </a:xfrm>
          <a:prstGeom prst="rect">
            <a:avLst/>
          </a:prstGeom>
          <a:solidFill>
            <a:srgbClr val="FFF0EB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2800" b="0" i="0">
                <a:solidFill>
                  <a:srgbClr val="111827"/>
                </a:solidFill>
                <a:latin typeface="Calibri"/>
              </a:rP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64208"/>
            <a:ext cx="10177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DC2626"/>
                </a:solidFill>
                <a:latin typeface="Calibri"/>
              </a:rPr>
              <a:t>בסיום כל סמסטר עליך להגיש מסמכים – אחרת התמיכה עלולה להיפסק.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2120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3200" b="0" i="0">
                <a:solidFill>
                  <a:srgbClr val="111827"/>
                </a:solidFill>
                <a:latin typeface="Calibr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600" b="1" i="0">
                <a:solidFill>
                  <a:srgbClr val="1A56DB"/>
                </a:solidFill>
                <a:latin typeface="Calibri"/>
              </a:rPr>
              <a:t>גיליון ציונים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11827"/>
                </a:solidFill>
                <a:latin typeface="Calibri"/>
              </a:rPr>
              <a:t>ציוני הסמסטר המסתיים –
הוכחה להתקדמות בלימודים.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97480"/>
            <a:ext cx="52120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880360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3200" b="0" i="0">
                <a:solidFill>
                  <a:srgbClr val="111827"/>
                </a:solidFill>
                <a:latin typeface="Calibri"/>
              </a:rP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20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600" b="1" i="0">
                <a:solidFill>
                  <a:srgbClr val="057A55"/>
                </a:solidFill>
                <a:latin typeface="Calibri"/>
              </a:rPr>
              <a:t>מערכת שעות מעודכנת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4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11827"/>
                </a:solidFill>
                <a:latin typeface="Calibri"/>
              </a:rPr>
              <a:t>לסמסטר הבא –
הוכחה לרישום לקורסים.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57800"/>
            <a:ext cx="11274552" cy="868680"/>
          </a:xfrm>
          <a:prstGeom prst="rect">
            <a:avLst/>
          </a:prstGeom>
          <a:solidFill>
            <a:srgbClr val="EBF0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67528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103A9E"/>
                </a:solidFill>
                <a:latin typeface="Calibri"/>
              </a:rPr>
              <a:t>המשך קבלת כל התמיכות (שכר לימוד, הסעות, ציוד וכו') מותנה בעמידה בדרישות הלימודים ובהצלחה במבחני הסמסטר הקודם.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43032" y="-822960"/>
            <a:ext cx="2743200" cy="2743200"/>
          </a:xfrm>
          <a:prstGeom prst="ellipse">
            <a:avLst/>
          </a:prstGeom>
          <a:solidFill>
            <a:srgbClr val="1E6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3000" b="1" i="0">
                <a:solidFill>
                  <a:srgbClr val="FFFFFF"/>
                </a:solidFill>
                <a:latin typeface="Calibri"/>
              </a:rPr>
              <a:t>סיכום – נקודות מפתח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658368"/>
          </a:xfrm>
          <a:prstGeom prst="rect">
            <a:avLst/>
          </a:prstGeom>
          <a:solidFill>
            <a:srgbClr val="1C3FAA"/>
          </a:solidFill>
          <a:ln w="12700">
            <a:solidFill>
              <a:srgbClr val="2D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57276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2200" b="0" i="0">
                <a:solidFill>
                  <a:srgbClr val="111827"/>
                </a:solidFill>
                <a:latin typeface="Calibri"/>
              </a:rP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206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Calibri"/>
              </a:rPr>
              <a:t>תקרה: 13,079 ₪ לשנה (2025)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029200" cy="658368"/>
          </a:xfrm>
          <a:prstGeom prst="rect">
            <a:avLst/>
          </a:prstGeom>
          <a:solidFill>
            <a:srgbClr val="1C3FAA"/>
          </a:solidFill>
          <a:ln w="12700">
            <a:solidFill>
              <a:srgbClr val="2D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157276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2200" b="0" i="0">
                <a:solidFill>
                  <a:srgbClr val="111827"/>
                </a:solidFill>
                <a:latin typeface="Calibri"/>
              </a:rPr>
              <a:t>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4206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Calibri"/>
              </a:rPr>
              <a:t>זיכוי לחשבון הבנק – לא ישירות למוסד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58568"/>
            <a:ext cx="5029200" cy="658368"/>
          </a:xfrm>
          <a:prstGeom prst="rect">
            <a:avLst/>
          </a:prstGeom>
          <a:solidFill>
            <a:srgbClr val="1C3FAA"/>
          </a:solidFill>
          <a:ln w="12700">
            <a:solidFill>
              <a:srgbClr val="2D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368296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2200" b="0" i="0">
                <a:solidFill>
                  <a:srgbClr val="111827"/>
                </a:solidFill>
                <a:latin typeface="Calibri"/>
              </a:rP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4206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Calibri"/>
              </a:rPr>
              <a:t>2 פעימות: סמסטר א' + סמסטר ב'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58568"/>
            <a:ext cx="5029200" cy="658368"/>
          </a:xfrm>
          <a:prstGeom prst="rect">
            <a:avLst/>
          </a:prstGeom>
          <a:solidFill>
            <a:srgbClr val="1C3FAA"/>
          </a:solidFill>
          <a:ln w="12700">
            <a:solidFill>
              <a:srgbClr val="2D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2368296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2200" b="0" i="0">
                <a:solidFill>
                  <a:srgbClr val="111827"/>
                </a:solidFill>
                <a:latin typeface="Calibri"/>
              </a:rPr>
              <a:t>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95728"/>
            <a:ext cx="4206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Calibri"/>
              </a:rPr>
              <a:t>חובה להגיש קבלה עם כל הפרטים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54096"/>
            <a:ext cx="5029200" cy="658368"/>
          </a:xfrm>
          <a:prstGeom prst="rect">
            <a:avLst/>
          </a:prstGeom>
          <a:solidFill>
            <a:srgbClr val="1C3FAA"/>
          </a:solidFill>
          <a:ln w="12700">
            <a:solidFill>
              <a:srgbClr val="2D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163824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2200" b="0" i="0">
                <a:solidFill>
                  <a:srgbClr val="111827"/>
                </a:solidFill>
                <a:latin typeface="Calibri"/>
              </a:rPr>
              <a:t>⏱️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91256"/>
            <a:ext cx="4206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Calibri"/>
              </a:rPr>
              <a:t>~10 ימי עבודה לקבלת ההחזר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054096"/>
            <a:ext cx="5029200" cy="658368"/>
          </a:xfrm>
          <a:prstGeom prst="rect">
            <a:avLst/>
          </a:prstGeom>
          <a:solidFill>
            <a:srgbClr val="1C3FAA"/>
          </a:solidFill>
          <a:ln w="12700">
            <a:solidFill>
              <a:srgbClr val="2D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0" y="3163824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2200" b="0" i="0">
                <a:solidFill>
                  <a:srgbClr val="111827"/>
                </a:solidFill>
                <a:latin typeface="Calibri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91256"/>
            <a:ext cx="4206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  <a:latin typeface="Calibri"/>
              </a:rPr>
              <a:t>בסיום כל סמסטר – הגשת ציונים ומערכת שעות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78224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500" b="0" i="0">
                <a:solidFill>
                  <a:srgbClr val="BFDBFF"/>
                </a:solidFill>
                <a:latin typeface="Calibri"/>
              </a:rPr>
              <a:t>לשאלות נוספות – פנו לעו"ס השיקום שלכם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